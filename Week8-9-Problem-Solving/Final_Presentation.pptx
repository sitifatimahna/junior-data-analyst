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Mei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296036</c:v>
                </c:pt>
                <c:pt idx="1">
                  <c:v>288213</c:v>
                </c:pt>
                <c:pt idx="2">
                  <c:v>262628</c:v>
                </c:pt>
                <c:pt idx="3">
                  <c:v>197741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Quebec</c:v>
                  </c:pt>
                  <c:pt idx="1">
                    <c:v>Ontario</c:v>
                  </c:pt>
                  <c:pt idx="2">
                    <c:v>Yukon</c:v>
                  </c:pt>
                  <c:pt idx="3">
                    <c:v>Nunavut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</c:v>
                </c:pt>
                <c:pt idx="1">
                  <c:v>27.3</c:v>
                </c:pt>
                <c:pt idx="2">
                  <c:v>21.5</c:v>
                </c:pt>
                <c:pt idx="3">
                  <c:v>10.6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BUSINESS CASE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Penurunan Penjualan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Superstore Sales Dataset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8–9 | Topik 5 — Problem Solving &amp; Business Question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Edusoft Center Teknologi — Simulasi Industri Junior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Masalah Perusahaan?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-33,2%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Total Penjualan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→ Juni 2011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bulan berturut-turut)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754880"/>
            <a:ext cx="2926080" cy="0"/>
          </a:xfrm>
          <a:prstGeom prst="line">
            <a:avLst/>
          </a:prstGeom>
          <a:noFill/>
          <a:ln w="12700">
            <a:solidFill>
              <a:srgbClr val="3A4B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$296.036 → $197.741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baseline: $302.530/bulan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0116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mengalami penurunan signifikan dan konsisten selama 3 bulan berturut-turut pada periode Maret–Juni 2011.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1089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Dibandingkan rata-rata penjualan bulanan periode sebelumnya (Nov 2010–Feb 2011) sebesar $302.530, penjualan turun 13,7%.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4206240"/>
            <a:ext cx="6492240" cy="146304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43891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bersifat SISTEMIK, bukan fluktuasi acak — menunjukkan adanya faktor mendasar yang memengaruhi performa penjualan secara berkelanjutan.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Diketahui?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apa yang paling berkontribusi terhadap penurunan penjualan selama periode Maret–Juni 2011?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06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dan kategori produk mana yang paling besar berkontribusi terhadap penurunan penjualan?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74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penurunan disebabkan oleh berkurangnya jumlah pelanggan, atau menurunnya nilai transaksi (AOV)?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3434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diskon yang diberikan memengaruhi penurunan penjualan atau menekan profit margin?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2120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Sub-kategori produk apa yang menjadi kontributor utama penurunan?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Keberhasilan Diukur?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$302.530  →  $261.155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-13,7%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Customers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  →  325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-2,7%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$2.677  →  $2.374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-11,3%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7,8%  →  11,7%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+3,9pp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452  →  440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-2,7%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0392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4,8%  →  5,1%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+0,3pp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&amp; Metodologi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 — 8.399 baris transaksi retail riil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Nov 2010–Feb 2011  |  Periode Analisis: Mar–Jun 2011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Teknik Analisis yang Digunakan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1421892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2189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 bulanan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43784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25596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25596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2935224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35224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wilayah (Pareto)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47488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829300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93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38928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per kategori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51192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33004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30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7342632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Analysis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turun vs tumbuh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54896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6708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3670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546336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Wilayah×Kategori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Ditemukan dari Data?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 Bulanan (Mar–Jun 2011)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Penurunan per Wilayah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96596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572000"/>
            <a:ext cx="1092708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4754880"/>
            <a:ext cx="10378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dari 8 wilayah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(Quebec, Ontario, Yukon, Nunavut) menyumbang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95,2%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dari total penurunan. Di 3 dari 4 wilayah tsb,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kategori produk turun bersamaan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bukan cuma 1 kategori spesifik.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Penyebab Utama?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2638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penjualan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luas di 4 wilayah (Quebec, Ontario, Yukon, Nunavut), didorong terutama oleh turunnya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(-11,3%)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BUKAN oleh hilangnya pelanggan (-2,7%) maupun strategi diskon/pricing internal.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masalah produk tertentu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kehilangan pelanggan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strategi diskon internal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pasti bersifat eksternal terhadap wilayah tsb (kompetitor/kondisi pasar lokal) dan memerlukan data tambahan untuk konfirmasi.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Dapat Dipelajari dari Data?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Lokal, Bukan Menyeluruh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4 dari 8 wilayah yang turun — strategi perbaikan sebaiknya regional/tertarget, bukan nasional.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Transaksi, Bukan Retensi Pelanggan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didorong AOV, bukan jumlah pelanggan — fokus pada mendorong pembelian bernilai lebih tinggi.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Masalah Pricing Internal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justru membaik — penyebab kemungkinan besar di sisi permintaan (demand-side), perlu data eksternal.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SOLUTIONS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Pilihan Solusi?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463040"/>
                <a:gridCol w="1463040"/>
                <a:gridCol w="1463040"/>
                <a:gridCol w="14630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Dampak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Biaya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Risiko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Investigasi kompetitor &amp; pasar regional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Kampanye promosi tertarget (AOV-focused)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Program retensi/win-back high-AOV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Perkuat sales &amp; distribusi lokal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Realokasi anggaran ke wilayah tumbuh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Solusi yang Paling Disarankan?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391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Kompetitor &amp; Pasar Regional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9631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lebih dulu — cepat &amp; murah, jadi dasar keputusan untuk 4 wilayah prioritas.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79476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593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Promosi Tertarget Berbasis AOV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0507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Cross-sell/bundling (bukan diskon flat) di 4 wilayah, fokus menaikkan nilai transaksi.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51480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Retensi/Win-Back Pelanggan High-AOV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6052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Mendekati pelanggan eksisting bernilai tinggi yang sudah ada di 4 wilayah tsb.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Dampak yang Diharapkan?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$41.375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pemulihan revenue/bulan jika AOV kembali ke level baseline ($2.677), tanpa menambah pelanggan baru maupun menurunkan margin.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Lebih Tepat Sasaran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alokasi anggaran berbasis bukti data, mengurangi risiko pemborosan pada solusi yang salah arah.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Biaya Lebih Rendah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pelanggan bernilai tinggi eksisting jauh lebih murah dibanding akuisisi pelanggan baru dari nol.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Regional Butuh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 Regional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penjualan 33,2% bukan disebabkan oleh satu produk atau strategi harga, melainkan oleh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 masalah di 4 wilayah tertentu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didorong oleh turunnya nilai transaksi pelanggan yang sudah ada.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Investigasi → Promosi Tertarget AOV → Retensi Pelanggan High-Value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2026-08-27T07:46:50Z</dcterms:created>
  <dcterms:modified xsi:type="dcterms:W3CDTF">2026-08-27T07:46:50Z</dcterms:modified>
</cp:coreProperties>
</file>