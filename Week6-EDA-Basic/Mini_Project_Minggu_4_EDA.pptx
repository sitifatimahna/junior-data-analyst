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64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408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371600"/>
            <a:ext cx="4572000" cy="45720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MINGGU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Category Dataset — Dari Statistik Dasar Menuju Insight Awal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474720"/>
            <a:ext cx="201168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8862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209.480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22960" y="4480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Dianalisis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931920" y="38862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931920" y="4480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Dibuat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040880" y="38862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15+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040880" y="4480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Ditemukan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E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Disusun oleh Junior Data Analyst  •  PT Edusoft Center Teknologi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Category Dataset — hasil akhir tahap Data Preparation minggu sebelumnya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931920" cy="4297680"/>
          </a:xfrm>
          <a:prstGeom prst="roundRect">
            <a:avLst>
              <a:gd name="adj" fmla="val 2326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057400"/>
            <a:ext cx="640080" cy="64008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7" name="Image 0" descr="/home/claude/miniproject_w4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890" y="2140610"/>
            <a:ext cx="473659" cy="47365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final_clean_dataset.csv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2880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209.480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68680" y="330098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868680" y="36758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68680" y="40965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868680" y="447141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68680" y="4892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berita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868680" y="526694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2012 – 2022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68680" y="56875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rentang tahun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80060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Dataset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800600" y="2286000"/>
            <a:ext cx="6858000" cy="1051560"/>
          </a:xfrm>
          <a:prstGeom prst="roundRect">
            <a:avLst>
              <a:gd name="adj" fmla="val 6087"/>
            </a:avLst>
          </a:prstGeom>
          <a:solidFill>
            <a:srgbClr val="F7F8FC"/>
          </a:solidFill>
          <a:ln w="9525">
            <a:solidFill>
              <a:srgbClr val="E4E7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83480" y="23774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Asli (6)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983480" y="26974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Link, Headline, Category, Short_Description, Authors, Date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800600" y="3474720"/>
            <a:ext cx="68580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E4E7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83480" y="3566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Turunan (6)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983480" y="3886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Year, Month, Day_Of_Week, Headline_Word_Count, Num_Authors, Author_Type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800600" y="4663440"/>
            <a:ext cx="6858000" cy="1051560"/>
          </a:xfrm>
          <a:prstGeom prst="roundRect">
            <a:avLst>
              <a:gd name="adj" fmla="val 6087"/>
            </a:avLst>
          </a:prstGeom>
          <a:solidFill>
            <a:srgbClr val="F7F8FC"/>
          </a:solidFill>
          <a:ln w="9525">
            <a:solidFill>
              <a:srgbClr val="E4E7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983480" y="4754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Kualitas Data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983480" y="50749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missing value, 0 duplicate — sudah divalidasi tahap sebelumnya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Minggu 4 — Exploratory Data Analysis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Statistik Dasar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mean, median, modus, std deviasi, dan kuartil untuk kolom numerik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1089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0" y="1828800"/>
            <a:ext cx="14630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120640" y="1828800"/>
            <a:ext cx="14630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0" y="1828800"/>
            <a:ext cx="14630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1828800"/>
            <a:ext cx="11887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0" y="1828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235440" y="1828800"/>
            <a:ext cx="11887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9235440" y="1828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2286000"/>
            <a:ext cx="3108960" cy="457200"/>
          </a:xfrm>
          <a:prstGeom prst="rect">
            <a:avLst/>
          </a:prstGeom>
          <a:solidFill>
            <a:srgbClr val="F7F8FC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286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657600" y="2286000"/>
            <a:ext cx="1463040" cy="457200"/>
          </a:xfrm>
          <a:prstGeom prst="rect">
            <a:avLst/>
          </a:prstGeom>
          <a:solidFill>
            <a:srgbClr val="F7F8FC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2286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2015.9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120640" y="2286000"/>
            <a:ext cx="1463040" cy="457200"/>
          </a:xfrm>
          <a:prstGeom prst="rect">
            <a:avLst/>
          </a:prstGeom>
          <a:solidFill>
            <a:srgbClr val="F7F8FC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2286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583680" y="2286000"/>
            <a:ext cx="1463040" cy="457200"/>
          </a:xfrm>
          <a:prstGeom prst="rect">
            <a:avLst/>
          </a:prstGeom>
          <a:solidFill>
            <a:srgbClr val="F7F8FC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2286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2.71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046720" y="2286000"/>
            <a:ext cx="1188720" cy="457200"/>
          </a:xfrm>
          <a:prstGeom prst="rect">
            <a:avLst/>
          </a:prstGeom>
          <a:solidFill>
            <a:srgbClr val="F7F8FC"/>
          </a:solidFill>
          <a:ln w="6350">
            <a:solidFill>
              <a:srgbClr val="E4E7F2"/>
            </a:solidFill>
            <a:prstDash val="solid"/>
          </a:ln>
        </p:spPr>
        <p:txBody>
          <a:bodyPr/>
          <a:lstStyle/>
          <a:p>
            <a:endParaRPr lang="en-ID" dirty="0"/>
          </a:p>
        </p:txBody>
      </p:sp>
      <p:sp>
        <p:nvSpPr>
          <p:cNvPr id="26" name="Text 24"/>
          <p:cNvSpPr/>
          <p:nvPr/>
        </p:nvSpPr>
        <p:spPr>
          <a:xfrm>
            <a:off x="8046720" y="22860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235440" y="2286000"/>
            <a:ext cx="1188720" cy="457200"/>
          </a:xfrm>
          <a:prstGeom prst="rect">
            <a:avLst/>
          </a:prstGeom>
          <a:solidFill>
            <a:srgbClr val="F7F8FC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0" y="22860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548640" y="2743200"/>
            <a:ext cx="3108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2743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3657600" y="274320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0" y="2743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5120640" y="274320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2743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537960" y="274320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0" y="2743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3.42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8046720" y="274320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46720" y="2743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9235440" y="274320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35440" y="2743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548640" y="3200400"/>
            <a:ext cx="3108960" cy="457200"/>
          </a:xfrm>
          <a:prstGeom prst="rect">
            <a:avLst/>
          </a:prstGeom>
          <a:solidFill>
            <a:srgbClr val="F7F8FC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3200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Headline_Word_Count</a:t>
            </a: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3657600" y="3200400"/>
            <a:ext cx="1463040" cy="457200"/>
          </a:xfrm>
          <a:prstGeom prst="rect">
            <a:avLst/>
          </a:prstGeom>
          <a:solidFill>
            <a:srgbClr val="F7F8FC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0" y="3200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5120640" y="3200400"/>
            <a:ext cx="1463040" cy="457200"/>
          </a:xfrm>
          <a:prstGeom prst="rect">
            <a:avLst/>
          </a:prstGeom>
          <a:solidFill>
            <a:srgbClr val="F7F8FC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20640" y="3200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6583680" y="3200400"/>
            <a:ext cx="1463040" cy="457200"/>
          </a:xfrm>
          <a:prstGeom prst="rect">
            <a:avLst/>
          </a:prstGeom>
          <a:solidFill>
            <a:srgbClr val="F7F8FC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0" y="3200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3.11</a:t>
            </a:r>
            <a:endParaRPr lang="en-US" sz="2000" dirty="0"/>
          </a:p>
        </p:txBody>
      </p:sp>
      <p:sp>
        <p:nvSpPr>
          <p:cNvPr id="49" name="Shape 47"/>
          <p:cNvSpPr/>
          <p:nvPr/>
        </p:nvSpPr>
        <p:spPr>
          <a:xfrm>
            <a:off x="8046720" y="3200400"/>
            <a:ext cx="1188720" cy="457200"/>
          </a:xfrm>
          <a:prstGeom prst="rect">
            <a:avLst/>
          </a:prstGeom>
          <a:solidFill>
            <a:srgbClr val="F7F8FC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46720" y="32004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1" name="Shape 49"/>
          <p:cNvSpPr/>
          <p:nvPr/>
        </p:nvSpPr>
        <p:spPr>
          <a:xfrm>
            <a:off x="9235440" y="3200400"/>
            <a:ext cx="1188720" cy="457200"/>
          </a:xfrm>
          <a:prstGeom prst="rect">
            <a:avLst/>
          </a:prstGeom>
          <a:solidFill>
            <a:srgbClr val="F7F8FC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235440" y="32004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2000" dirty="0"/>
          </a:p>
        </p:txBody>
      </p:sp>
      <p:sp>
        <p:nvSpPr>
          <p:cNvPr id="53" name="Shape 51"/>
          <p:cNvSpPr/>
          <p:nvPr/>
        </p:nvSpPr>
        <p:spPr>
          <a:xfrm>
            <a:off x="548640" y="3657600"/>
            <a:ext cx="3108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3657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Num_Authors</a:t>
            </a: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3657600" y="365760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0" y="36576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</a:t>
            </a:r>
            <a:endParaRPr lang="en-US" sz="2000" dirty="0"/>
          </a:p>
        </p:txBody>
      </p:sp>
      <p:sp>
        <p:nvSpPr>
          <p:cNvPr id="57" name="Shape 55"/>
          <p:cNvSpPr/>
          <p:nvPr/>
        </p:nvSpPr>
        <p:spPr>
          <a:xfrm>
            <a:off x="5120640" y="365760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20640" y="36576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9" name="Shape 57"/>
          <p:cNvSpPr/>
          <p:nvPr/>
        </p:nvSpPr>
        <p:spPr>
          <a:xfrm>
            <a:off x="6583680" y="365760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83680" y="36576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1.35</a:t>
            </a:r>
            <a:endParaRPr lang="en-US" sz="2000" dirty="0"/>
          </a:p>
        </p:txBody>
      </p:sp>
      <p:sp>
        <p:nvSpPr>
          <p:cNvPr id="61" name="Shape 59"/>
          <p:cNvSpPr/>
          <p:nvPr/>
        </p:nvSpPr>
        <p:spPr>
          <a:xfrm>
            <a:off x="7990840" y="365252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F2"/>
            </a:solidFill>
            <a:prstDash val="solid"/>
          </a:ln>
        </p:spPr>
        <p:txBody>
          <a:bodyPr/>
          <a:lstStyle/>
          <a:p>
            <a:endParaRPr lang="en-ID" dirty="0"/>
          </a:p>
        </p:txBody>
      </p:sp>
      <p:sp>
        <p:nvSpPr>
          <p:cNvPr id="62" name="Text 60"/>
          <p:cNvSpPr/>
          <p:nvPr/>
        </p:nvSpPr>
        <p:spPr>
          <a:xfrm>
            <a:off x="8046720" y="36576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63" name="Shape 61"/>
          <p:cNvSpPr/>
          <p:nvPr/>
        </p:nvSpPr>
        <p:spPr>
          <a:xfrm>
            <a:off x="9235440" y="365760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235440" y="36576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65" name="Shape 63"/>
          <p:cNvSpPr/>
          <p:nvPr/>
        </p:nvSpPr>
        <p:spPr>
          <a:xfrm>
            <a:off x="548640" y="429768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66" name="Text 64"/>
          <p:cNvSpPr/>
          <p:nvPr/>
        </p:nvSpPr>
        <p:spPr>
          <a:xfrm>
            <a:off x="777240" y="44348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kata</a:t>
            </a:r>
            <a:endParaRPr lang="en-US" sz="2200" dirty="0"/>
          </a:p>
        </p:txBody>
      </p:sp>
      <p:sp>
        <p:nvSpPr>
          <p:cNvPr id="67" name="Text 65"/>
          <p:cNvSpPr/>
          <p:nvPr/>
        </p:nvSpPr>
        <p:spPr>
          <a:xfrm>
            <a:off x="777240" y="493776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panjang headline — cukup konsisten (std ±3 kata)</a:t>
            </a:r>
            <a:endParaRPr lang="en-US" dirty="0"/>
          </a:p>
        </p:txBody>
      </p:sp>
      <p:sp>
        <p:nvSpPr>
          <p:cNvPr id="68" name="Shape 66"/>
          <p:cNvSpPr/>
          <p:nvPr/>
        </p:nvSpPr>
        <p:spPr>
          <a:xfrm>
            <a:off x="4389120" y="429768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69" name="Text 67"/>
          <p:cNvSpPr/>
          <p:nvPr/>
        </p:nvSpPr>
        <p:spPr>
          <a:xfrm>
            <a:off x="4617720" y="44348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1-2 penulis</a:t>
            </a:r>
            <a:endParaRPr lang="en-US" sz="2200" dirty="0"/>
          </a:p>
        </p:txBody>
      </p:sp>
      <p:sp>
        <p:nvSpPr>
          <p:cNvPr id="70" name="Text 68"/>
          <p:cNvSpPr/>
          <p:nvPr/>
        </p:nvSpPr>
        <p:spPr>
          <a:xfrm>
            <a:off x="4617720" y="493776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mayoritas artikel (median = 1, IQR 1-2)</a:t>
            </a:r>
            <a:endParaRPr lang="en-US" dirty="0"/>
          </a:p>
        </p:txBody>
      </p:sp>
      <p:sp>
        <p:nvSpPr>
          <p:cNvPr id="71" name="Shape 69"/>
          <p:cNvSpPr/>
          <p:nvPr/>
        </p:nvSpPr>
        <p:spPr>
          <a:xfrm>
            <a:off x="8229600" y="429768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72" name="Text 70"/>
          <p:cNvSpPr/>
          <p:nvPr/>
        </p:nvSpPr>
        <p:spPr>
          <a:xfrm>
            <a:off x="8458200" y="44348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POLITICS</a:t>
            </a:r>
            <a:endParaRPr lang="en-US" sz="2200" dirty="0"/>
          </a:p>
        </p:txBody>
      </p:sp>
      <p:sp>
        <p:nvSpPr>
          <p:cNvPr id="73" name="Text 71"/>
          <p:cNvSpPr/>
          <p:nvPr/>
        </p:nvSpPr>
        <p:spPr>
          <a:xfrm>
            <a:off x="8458200" y="493776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terbanyak: 35.587 artikel (17% dari total)</a:t>
            </a: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Minggu 4 — Exploratory Data Analysis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Visualisasi — Univariate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tiap variabel secara individual</a:t>
            </a:r>
            <a:endParaRPr lang="en-US" dirty="0"/>
          </a:p>
        </p:txBody>
      </p:sp>
      <p:pic>
        <p:nvPicPr>
          <p:cNvPr id="5" name="Image 0" descr="/home/claude/miniproject_w4/charts/chart_1_histogram_head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20" y="1635531"/>
            <a:ext cx="3799840" cy="314271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5080000"/>
            <a:ext cx="3566160" cy="640080"/>
          </a:xfrm>
          <a:prstGeom prst="roundRect">
            <a:avLst>
              <a:gd name="adj" fmla="val 3333"/>
            </a:avLst>
          </a:prstGeom>
          <a:solidFill>
            <a:srgbClr val="F7F8FC"/>
          </a:solidFill>
          <a:ln w="9525">
            <a:solidFill>
              <a:srgbClr val="E4E7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5212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Histogram: panjang judul mendekati normal, mean≈median≈10 kata</a:t>
            </a:r>
            <a:endParaRPr lang="en-US" sz="1400" dirty="0"/>
          </a:p>
        </p:txBody>
      </p:sp>
      <p:pic>
        <p:nvPicPr>
          <p:cNvPr id="8" name="Image 1" descr="/home/claude/miniproject_w4/charts/chart_2_barchart_categ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2049" y="1581913"/>
            <a:ext cx="3864671" cy="319633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251960" y="5080000"/>
            <a:ext cx="3566160" cy="640080"/>
          </a:xfrm>
          <a:prstGeom prst="roundRect">
            <a:avLst>
              <a:gd name="adj" fmla="val 3333"/>
            </a:avLst>
          </a:prstGeom>
          <a:solidFill>
            <a:srgbClr val="F7F8FC"/>
          </a:solidFill>
          <a:ln w="9525">
            <a:solidFill>
              <a:srgbClr val="E4E7F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389120" y="5212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Chart: POLITICS mendominasi, 10 kategori teratas = 60% data</a:t>
            </a:r>
            <a:endParaRPr lang="en-US" sz="1400" dirty="0"/>
          </a:p>
        </p:txBody>
      </p:sp>
      <p:pic>
        <p:nvPicPr>
          <p:cNvPr id="11" name="Image 2" descr="/home/claude/miniproject_w4/charts/chart_3_piechart_authortyp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19" y="1581912"/>
            <a:ext cx="3864671" cy="3196336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046720" y="5080000"/>
            <a:ext cx="3566160" cy="640080"/>
          </a:xfrm>
          <a:prstGeom prst="roundRect">
            <a:avLst>
              <a:gd name="adj" fmla="val 3333"/>
            </a:avLst>
          </a:prstGeom>
          <a:solidFill>
            <a:srgbClr val="F7F8FC"/>
          </a:solidFill>
          <a:ln w="9525">
            <a:solidFill>
              <a:srgbClr val="E4E7F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8183880" y="5212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Chart: 42,9% single author, 39,2% multi-author, 17,8% unknown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Minggu 4 — Exploratory Data Analysis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Visualisasi — Bivariate &amp; Korelasi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Hubungan antarvariabel dan kekuatan korelasinya</a:t>
            </a:r>
            <a:endParaRPr lang="en-US" dirty="0"/>
          </a:p>
        </p:txBody>
      </p:sp>
      <p:pic>
        <p:nvPicPr>
          <p:cNvPr id="5" name="Image 0" descr="/home/claude/miniproject_w4/charts/bivariate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575191"/>
            <a:ext cx="3840480" cy="355052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5537200"/>
            <a:ext cx="3566160" cy="568960"/>
          </a:xfrm>
          <a:prstGeom prst="roundRect">
            <a:avLst>
              <a:gd name="adj" fmla="val 3333"/>
            </a:avLst>
          </a:prstGeom>
          <a:solidFill>
            <a:srgbClr val="F7F8FC"/>
          </a:solidFill>
          <a:ln w="9525">
            <a:solidFill>
              <a:srgbClr val="E4E7F2"/>
            </a:solidFill>
            <a:prstDash val="solid"/>
          </a:ln>
        </p:spPr>
        <p:txBody>
          <a:bodyPr/>
          <a:lstStyle/>
          <a:p>
            <a:endParaRPr lang="en-ID" dirty="0"/>
          </a:p>
        </p:txBody>
      </p:sp>
      <p:sp>
        <p:nvSpPr>
          <p:cNvPr id="7" name="Text 4"/>
          <p:cNvSpPr/>
          <p:nvPr/>
        </p:nvSpPr>
        <p:spPr>
          <a:xfrm>
            <a:off x="457200" y="5508752"/>
            <a:ext cx="3291840" cy="587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Chart: pergeseran tren kategori dari waktu ke waktu</a:t>
            </a:r>
            <a:endParaRPr lang="en-US" sz="1400" dirty="0"/>
          </a:p>
        </p:txBody>
      </p:sp>
      <p:pic>
        <p:nvPicPr>
          <p:cNvPr id="8" name="Image 1" descr="/home/claude/miniproject_w4/charts/bivariate_grouped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5281" y="1575191"/>
            <a:ext cx="3840480" cy="3550529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282441" y="5537200"/>
            <a:ext cx="3566160" cy="568960"/>
          </a:xfrm>
          <a:prstGeom prst="roundRect">
            <a:avLst>
              <a:gd name="adj" fmla="val 3333"/>
            </a:avLst>
          </a:prstGeom>
          <a:solidFill>
            <a:srgbClr val="F7F8FC"/>
          </a:solidFill>
          <a:ln w="9525">
            <a:solidFill>
              <a:srgbClr val="E4E7F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251960" y="5516880"/>
            <a:ext cx="3291840" cy="65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Bar: pola tipe penulis berbeda tiap kategori</a:t>
            </a:r>
            <a:endParaRPr lang="en-US" sz="1400" dirty="0"/>
          </a:p>
        </p:txBody>
      </p:sp>
      <p:pic>
        <p:nvPicPr>
          <p:cNvPr id="11" name="Image 2" descr="/home/claude/miniproject_w4/charts/correlation_heat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1536192"/>
            <a:ext cx="4031612" cy="358952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046720" y="5516880"/>
            <a:ext cx="3566160" cy="568960"/>
          </a:xfrm>
          <a:prstGeom prst="roundRect">
            <a:avLst>
              <a:gd name="adj" fmla="val 3333"/>
            </a:avLst>
          </a:prstGeom>
          <a:solidFill>
            <a:srgbClr val="F7F8FC"/>
          </a:solidFill>
          <a:ln w="9525">
            <a:solidFill>
              <a:srgbClr val="E4E7F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8046720" y="548640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Heatmap: korelasi terkuat 0,48 (Num_Authors x Short_Desc)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5080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Minggu 4 — Exploratory Data Analysis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56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Awal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kunci dari analisis univariate, bivariate, dan korelasi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02920" cy="50292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6" name="Image 0" descr="/home/claude/miniproject_w4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60" y="193990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288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POLITICS mendominasi (17% dari total artikel), 10 kategori teratas mencakup ~60% data — distribusi kategori sangat tidak merata.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640080" y="2743200"/>
            <a:ext cx="502920" cy="50292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9" name="Image 1" descr="/home/claude/miniproject_w4/icons/refre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60" y="2808580"/>
            <a:ext cx="372161" cy="372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6974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Indikasi kuat perubahan taksonomi kategori: WELLNESS anjlok tepat saat HEALTHY LIVING muncul (2014) — bukan penurunan minat, tapi rename kategori.</a:t>
            </a: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640080" y="3611880"/>
            <a:ext cx="502920" cy="50292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2" name="Image 2" descr="/home/claude/miniproject_w4/icons/tr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460" y="3677260"/>
            <a:ext cx="372161" cy="37216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56616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artikel turun drastis sejak 2018 (32rb → 1,4rb di 2022) — kemungkinan keterbatasan cakupan pengumpulan data sumber.</a:t>
            </a:r>
            <a:endParaRPr lang="en-US" dirty="0"/>
          </a:p>
        </p:txBody>
      </p:sp>
      <p:sp>
        <p:nvSpPr>
          <p:cNvPr id="14" name="Shape 9"/>
          <p:cNvSpPr/>
          <p:nvPr/>
        </p:nvSpPr>
        <p:spPr>
          <a:xfrm>
            <a:off x="640080" y="4480560"/>
            <a:ext cx="502920" cy="50292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5" name="Image 3" descr="/home/claude/miniproject_w4/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460" y="4545940"/>
            <a:ext cx="372161" cy="37216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71600" y="443484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Korelasi terkuat: Num_Authors ↔ Short_Description_Word_Count (r=0,48) — artikel kolaboratif cenderung lebih panjang deskripsinya.</a:t>
            </a:r>
            <a:endParaRPr lang="en-US" dirty="0"/>
          </a:p>
        </p:txBody>
      </p:sp>
      <p:sp>
        <p:nvSpPr>
          <p:cNvPr id="17" name="Shape 11"/>
          <p:cNvSpPr/>
          <p:nvPr/>
        </p:nvSpPr>
        <p:spPr>
          <a:xfrm>
            <a:off x="640080" y="5349240"/>
            <a:ext cx="502920" cy="50292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8" name="Image 4" descr="/home/claude/miniproject_w4/icons/pie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460" y="5414620"/>
            <a:ext cx="372161" cy="37216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71600" y="530352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penulisan berbeda signifikan per kategori: ENTERTAINMENT/POLITICS didominasi single author, WELLNESS/TRAVEL didominasi multi-author.</a:t>
            </a:r>
            <a:endParaRPr lang="en-US" dirty="0"/>
          </a:p>
        </p:txBody>
      </p:sp>
      <p:sp>
        <p:nvSpPr>
          <p:cNvPr id="20" name="Text 13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Minggu 4 — Exploratory Data Analysis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Potensi Analisis Lanjutan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Arah pengembangan analisis berdasarkan temuan EDA minggu ini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7F8FC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574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miniproject_w4/icons/com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" y="2128723"/>
            <a:ext cx="405994" cy="4059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02996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Rekonsiliasi Taksonomi Kategori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77240" y="26974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Gabungkan kategori yang secara substansi sama (WELLNESS↔HEALTHY LIVING, PARENTING↔PARENTS) sebelum analisis tren jangka panjang.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17920" y="182880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7F8FC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46520" y="20574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miniproject_w4/icons/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7843" y="2128723"/>
            <a:ext cx="405994" cy="40599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202996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Klasifikasi Kategori Otomatis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446520" y="26974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Bangun model NLP (mis. TF-IDF + klasifikasi) untuk memprediksi Category dari Headline &amp; Short_Description.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393192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7F8FC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/home/claude/miniproject_w4/icons/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" y="4231843"/>
            <a:ext cx="405994" cy="40599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413308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Mining &amp; Topic Modeling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777240" y="48006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Ekstraksi topik/tema dari Headline dan Short_Description untuk melihat sub-tren dalam kategori besar seperti POLITICS.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6217920" y="393192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7F8FC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46520" y="4160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/home/claude/miniproject_w4/icons/bar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7843" y="4231843"/>
            <a:ext cx="405994" cy="40599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32320" y="413308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Time-Series Terbatas</a:t>
            </a:r>
            <a:endParaRPr lang="en-US" sz="2000" dirty="0"/>
          </a:p>
        </p:txBody>
      </p:sp>
      <p:sp>
        <p:nvSpPr>
          <p:cNvPr id="24" name="Text 18"/>
          <p:cNvSpPr/>
          <p:nvPr/>
        </p:nvSpPr>
        <p:spPr>
          <a:xfrm>
            <a:off x="6446520" y="48006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 tren tahun 2012-2017 (volume data stabil) untuk menghindari bias akibat penurunan data sejak 2018.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Minggu 4 — Exploratory Data Analysis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4572000" cy="45720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Kesimpulan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News Category sudah dieksplorasi menyeluruh — siap untuk tahap analisis/modeling lanjutan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02920" cy="50292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6" name="Image 0" descr="/home/claude/miniproject_w4/icons/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60" y="221422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12140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Summary.xlsx &amp; EDA Notebook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371600" y="24231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 dasar lengkap (mean, median, modus, std, kuartil)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3044952"/>
            <a:ext cx="502920" cy="50292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0" name="Image 1" descr="/home/claude/miniproject_w4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60" y="3110332"/>
            <a:ext cx="372161" cy="3721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017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Report.pdf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1371600" y="331927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visualisasi + interpretasi per variabel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40080" y="3941064"/>
            <a:ext cx="502920" cy="50292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4" name="Image 2" descr="/home/claude/miniproject_w4/icons/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460" y="4006444"/>
            <a:ext cx="372161" cy="37216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39136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Analysis.pdf</a:t>
            </a: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1371600" y="4215384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visualisasi + 10 insight hubungan antarvariabel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40080" y="4837176"/>
            <a:ext cx="502920" cy="50292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8" name="Image 3" descr="/home/claude/miniproject_w4/icons/targ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460" y="4902556"/>
            <a:ext cx="372161" cy="37216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4809744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Matrix, Heatmap &amp; Ringkasan Hasil</a:t>
            </a: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1371600" y="5111496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korelasi lengkap + variabel paling berpengaruh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640080" y="5852160"/>
            <a:ext cx="10881360" cy="0"/>
          </a:xfrm>
          <a:prstGeom prst="line">
            <a:avLst/>
          </a:prstGeom>
          <a:noFill/>
          <a:ln w="12700">
            <a:solidFill>
              <a:srgbClr val="3E4A93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40080" y="6035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689</Words>
  <Application>Microsoft Office PowerPoint</Application>
  <PresentationFormat>Widescreen</PresentationFormat>
  <Paragraphs>130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Siti Zahra</cp:lastModifiedBy>
  <cp:revision>2</cp:revision>
  <dcterms:created xsi:type="dcterms:W3CDTF">2026-08-07T02:51:44Z</dcterms:created>
  <dcterms:modified xsi:type="dcterms:W3CDTF">2026-08-07T03:17:30Z</dcterms:modified>
</cp:coreProperties>
</file>