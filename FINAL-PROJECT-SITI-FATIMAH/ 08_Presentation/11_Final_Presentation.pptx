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48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B6485"/>
                </a:solidFill>
                <a:latin typeface="Arial"/>
              </a:rPr>
              <a:t>Acceptance Rate per Kampanye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Campaign 1</c:v>
                  </c:pt>
                  <c:pt idx="1">
                    <c:v>Campaign 2</c:v>
                  </c:pt>
                  <c:pt idx="2">
                    <c:v>Campaign 3</c:v>
                  </c:pt>
                  <c:pt idx="3">
                    <c:v>Campaign 4</c:v>
                  </c:pt>
                  <c:pt idx="4">
                    <c:v>Campaign 5</c:v>
                  </c:pt>
                  <c:pt idx="5">
                    <c:v>Response
(Terbaru)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6.6</c:v>
                </c:pt>
                <c:pt idx="1">
                  <c:v>1.3</c:v>
                </c:pt>
                <c:pt idx="2">
                  <c:v>7.5</c:v>
                </c:pt>
                <c:pt idx="3">
                  <c:v>7.7</c:v>
                </c:pt>
                <c:pt idx="4">
                  <c:v>7.2</c:v>
                </c:pt>
                <c:pt idx="5">
                  <c:v>15.4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48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B6485"/>
                </a:solidFill>
                <a:latin typeface="Arial"/>
              </a:rPr>
              <a:t>Response Rate berdasarkan Kelompok Income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99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&lt;30 Juta</c:v>
                  </c:pt>
                  <c:pt idx="1">
                    <c:v>30–60 Juta</c:v>
                  </c:pt>
                  <c:pt idx="2">
                    <c:v>60–90 Juta</c:v>
                  </c:pt>
                  <c:pt idx="3">
                    <c:v>&gt;90 Juta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11.2</c:v>
                </c:pt>
                <c:pt idx="2">
                  <c:v>20.3</c:v>
                </c:pt>
                <c:pt idx="3">
                  <c:v>58.1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5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Customer Dataset — Peningkatan Efektivitas Kampanye Pemasaran melalui Segmentasi Pelanggan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02920" cy="457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760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 Fatimah Nur Az-Zahra
</a:t>
            </a:r>
            <a:pPr indent="0" marL="0">
              <a:buNone/>
            </a:pPr>
            <a:r>
              <a:rPr lang="en-US" sz="115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Junior Data Analyst — Topik 7 Final Project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Senin, 14 September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Kampanye Terbaru Terbukti Jauh Lebih Efektif — Saatnya Menargetkan Segmen yang Tepat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dianalisis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(setelah cleaning)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15,4%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7432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terbaru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9659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7432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segmen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premium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historis dijalankan secara broad targeting tanpa segmentasi, sehingga pesan kurang relevan bagi mayoritas pelanggan.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utama: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targeted campaign berbasis profil pelanggan dan segmentasi RFM untuk meningkatkan efektivitas &amp; efisiensi kampanye.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Kampanye Disebar Tanpa Segmentasi yang Jelas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pemasaran saat ini dijalankan secara </a:t>
            </a:r>
            <a:pPr indent="0" marL="0">
              <a:lnSpc>
                <a:spcPct val="135000"/>
              </a:lnSpc>
              <a:buNone/>
            </a:pPr>
            <a:r>
              <a:rPr lang="en-US" sz="14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disebar ke hampir seluruh pelanggan tanpa segmentasi yang jelas.
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Akibatnya: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Tingkat penerimaan kampanye secara keseluruhan rendah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Anggaran pemasaran berpotensi tidak digunakan optimal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Belum ada analisis karakteristik pelanggan paling responsif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2377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3429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acceptance 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historis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(Campaign 1–5)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4663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15,4% pada kampanye terbaru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Menemukan Segmen Paling Responsif untuk Targeting yang Lebih Tepat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Performa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efektivitas kampanye pemasaran historis dan terbaru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Segmen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karakteristik pelanggan yang paling potensial merespons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Targeting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rekomendasi guna meningkatkan penerimaan &amp; efisiensi biaya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ifood_df.csv — Data Pelanggan &amp; Kampanye Pemasaran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2.205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awal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2.023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cleaning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828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tercatat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(awalnya bahan tes rekrutmen Data Analyst dari iFood, platform delivery makanan asal Brasil)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data: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 (income, usia, status pernikahan, pendidikan), perilaku belanja per kategori produk, jumlah pembelian per channel, serta status penerimaan terhadap 6 kampanye pemasaran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Tahap Analisis, dari Pola hingga Solusi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01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80136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Income, Age, Education, Marital Status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426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64261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antar variabel numerik terhadap Response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838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48386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acceptance rate antar kampanye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25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3251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berdasarkan segmen pelanggan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51663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→ Root Cause → Impact → Recommendation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Kampanye Terbaru 10x Lebih Efektif dari Kampanye Terlemah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38160" y="21945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15,4%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Terbaru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3886200"/>
            <a:ext cx="2743200" cy="0"/>
          </a:xfrm>
          <a:prstGeom prst="line">
            <a:avLst/>
          </a:prstGeom>
          <a:noFill/>
          <a:ln w="12700">
            <a:solidFill>
              <a:srgbClr val="4450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4069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1,3%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 (terendah)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5120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lebih dari 10x lipat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 Income Tinggi &amp; Tanpa Anak Adalah Target Paling Potensial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Segmen Potensial: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423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Income di atas Rp90 juta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Tidak memiliki anak di rumah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Pendidikan tinggi (PhD/Master)
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931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754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pada segmen ini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 Belanja &amp; Keterkinian Transaksi adalah Prediktor Kuat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+0,26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MntTotal (Total Belanja) dengan Response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tinggi total belanja, semakin besar kemungkinan merespons kampanye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33172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-0,20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383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Recency dengan Response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1148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baru transaksi terakhir, semakin besar kemungkinan merespons kampanye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Ketiga Pola Ini Terjadi?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82880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historis dijalankan secara broad targeting tanpa segmentasi, sehingga pesan kurang relevan bagi mayoritas pelanggan.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24612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24612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income tinggi memiliki purchasing power lebih besar sehingga nilai promosi terasa lebih menarik secara absolut.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663440"/>
            <a:ext cx="1371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4663440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aktif &amp; loyal (Recency rendah, belanja tinggi) lebih engaged sehingga lebih terbuka menerima komunikasi pemasaran.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Bisnis dari Masalah yang Belum Ditangani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Pemborosan Anggaran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dikirim ke pelanggan yang kemungkinan meresponnya sangat kecil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Terlewat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611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belum difokuskan proporsional ke segmen high-value paling potensial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Reputasi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6118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tidak relevan berisiko dianggap spam, menurunkan engagement jangka panjang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Langkah Prioritas ke Depan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783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17830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profil: income tinggi, tanpa anak, pendidikan tinggi, Recency rendah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515600" y="192938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0" y="19293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0"/>
          </a:xfrm>
          <a:prstGeom prst="line">
            <a:avLst/>
          </a:prstGeom>
          <a:noFill/>
          <a:ln w="12700">
            <a:solidFill>
              <a:srgbClr val="E9EB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974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974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Strategi Terbaru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pola kampanye Response yang sudah terbukti paling efektif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0" y="284378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28437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0"/>
          </a:xfrm>
          <a:prstGeom prst="line">
            <a:avLst/>
          </a:prstGeom>
          <a:noFill/>
          <a:ln w="12700">
            <a:solidFill>
              <a:srgbClr val="E9EB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118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118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6118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khusus untuk segmen income tinggi (premium tier)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515600" y="375818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0" y="37581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0"/>
          </a:xfrm>
          <a:prstGeom prst="line">
            <a:avLst/>
          </a:prstGeom>
          <a:noFill/>
          <a:ln w="12700">
            <a:solidFill>
              <a:srgbClr val="E9EB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262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5262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RFM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5262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untuk seluruh basis pelanggan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15600" y="467258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0" y="46725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12700">
            <a:solidFill>
              <a:srgbClr val="E9EB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4406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4406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Win-Back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544068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Reaktivasi terpisah untuk pelanggan dormant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15600" y="558698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9AA0B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515600" y="55869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Proyeksi Dampak Bila Rekomendasi Diterapkan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6,0%  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historis meningkat mendekati performa kampanye terbaru melalui targeted campaign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63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&amp; Revenue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743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Biaya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acquisition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91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Revenue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 premium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9776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B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lebih fokus mengurangi pengiriman ke pelanggan low-response, sekaligus membuka peluang reaktivasi pelanggan dormant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Segmentasi, Bukan Broad Targeting, adalah Kunci ke Depan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historis iFood dijalankan secara broad targeting tanpa segmentasi, padahal seharusnya mempertimbangkan karakteristik pelanggan seperti income, status pernikahan, dan tingkat aktivitas belanja.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menerapkan segmentasi RFM (Recency, Frequency, Monetary), kampanye pemasaran dapat berjalan lebih efektif dan efisien secara berkelanjutan.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2026-09-15T04:39:37Z</dcterms:created>
  <dcterms:modified xsi:type="dcterms:W3CDTF">2026-09-15T04:39:37Z</dcterms:modified>
</cp:coreProperties>
</file>