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 Artikel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4A4F6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BUSINESS</c:v>
                  </c:pt>
                  <c:pt idx="1">
                    <c:v>FOOD &amp; DRINK</c:v>
                  </c:pt>
                  <c:pt idx="2">
                    <c:v>QUEER VOICES</c:v>
                  </c:pt>
                  <c:pt idx="3">
                    <c:v>HEALTHY LIVING</c:v>
                  </c:pt>
                  <c:pt idx="4">
                    <c:v>PARENTING</c:v>
                  </c:pt>
                  <c:pt idx="5">
                    <c:v>STYLE &amp; BEAUTY</c:v>
                  </c:pt>
                  <c:pt idx="6">
                    <c:v>TRAVEL</c:v>
                  </c:pt>
                  <c:pt idx="7">
                    <c:v>ENTERTAINMENT</c:v>
                  </c:pt>
                  <c:pt idx="8">
                    <c:v>WELLNESS</c:v>
                  </c:pt>
                  <c:pt idx="9">
                    <c:v>POLITICS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5990</c:v>
                </c:pt>
                <c:pt idx="1">
                  <c:v>6340</c:v>
                </c:pt>
                <c:pt idx="2">
                  <c:v>6344</c:v>
                </c:pt>
                <c:pt idx="3">
                  <c:v>6694</c:v>
                </c:pt>
                <c:pt idx="4">
                  <c:v>8790</c:v>
                </c:pt>
                <c:pt idx="5">
                  <c:v>9807</c:v>
                </c:pt>
                <c:pt idx="6">
                  <c:v>9900</c:v>
                </c:pt>
                <c:pt idx="7">
                  <c:v>17362</c:v>
                </c:pt>
                <c:pt idx="8">
                  <c:v>17941</c:v>
                </c:pt>
                <c:pt idx="9">
                  <c:v>35587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4A4F6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A4F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Author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F2A541"/>
              </a:solidFill>
              <a:effectLst/>
            </c:spPr>
          </c:dPt>
          <c:dPt>
            <c:idx val="2"/>
            <c:bubble3D val="0"/>
            <c:spPr>
              <a:solidFill>
                <a:srgbClr val="C9CED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Single (42,9%)</c:v>
                </c:pt>
                <c:pt idx="1">
                  <c:v>Multiple (39,2%)</c:v>
                </c:pt>
                <c:pt idx="2">
                  <c:v>Unknown (17,8%)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89925</c:v>
                </c:pt>
                <c:pt idx="1">
                  <c:v>82178</c:v>
                </c:pt>
                <c:pt idx="2">
                  <c:v>37377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MINGGUAN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Report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Category Dataset — Dari Data Mentah Menuju Dataset Siap Analisis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20116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209.480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Data Final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3931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93192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(6 Asli + 6 Baru)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0" y="3931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04088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Berita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oleh Junior Data Analyst  •  Untuk Tim Data Analyst Senior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Gambaran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HuffPost News Category Dataset — sumber data mentah sebelum diproses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931920" cy="429768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7" name="Image 0" descr="/home/claude/pptx_proj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2140610"/>
            <a:ext cx="473659" cy="4736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45920" y="23957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News_Category_Dataset_v3.json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3063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209.527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68680" y="35387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awal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40233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68680" y="44988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awal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49834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 – 2022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68680" y="54589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tanggal publikasi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0060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6 Kolom Awal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800600" y="2240280"/>
            <a:ext cx="6858000" cy="594360"/>
          </a:xfrm>
          <a:prstGeom prst="roundRect">
            <a:avLst>
              <a:gd name="adj" fmla="val 9231"/>
            </a:avLst>
          </a:prstGeom>
          <a:solidFill>
            <a:srgbClr val="F7F8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83480" y="2240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949440" y="22402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unik tiap artikel berita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00600" y="2898648"/>
            <a:ext cx="68580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83480" y="289864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49440" y="289864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Judul berita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00600" y="3557016"/>
            <a:ext cx="6858000" cy="594360"/>
          </a:xfrm>
          <a:prstGeom prst="roundRect">
            <a:avLst>
              <a:gd name="adj" fmla="val 9231"/>
            </a:avLst>
          </a:prstGeom>
          <a:solidFill>
            <a:srgbClr val="F7F8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83480" y="3557016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949440" y="355701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kategori (42 kategori unik)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800600" y="4215384"/>
            <a:ext cx="68580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83480" y="421538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Short_Description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949440" y="421538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singkat isi berita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800600" y="4873752"/>
            <a:ext cx="6858000" cy="594360"/>
          </a:xfrm>
          <a:prstGeom prst="roundRect">
            <a:avLst>
              <a:gd name="adj" fmla="val 9231"/>
            </a:avLst>
          </a:prstGeom>
          <a:solidFill>
            <a:srgbClr val="F7F8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83480" y="487375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949440" y="487375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penulis artikel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800600" y="5532120"/>
            <a:ext cx="68580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83480" y="5532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949440" y="55321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publikasi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— News Category Dataset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Permasalahan Data yang Ditemukan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kategori masalah ditemukan sebelum data siap dianalisis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F7F8FC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11680"/>
            <a:ext cx="594360" cy="59436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7" name="Image 0" descr="/home/claude/pptx_proj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939" y="2088947"/>
            <a:ext cx="439826" cy="4398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011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27889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kosong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baris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04672" y="35387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Short_Description kosong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4672" y="38130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19.707 baris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04672" y="42885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kosong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4672" y="45628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37.418 baris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04672" y="5056632"/>
            <a:ext cx="3145536" cy="0"/>
          </a:xfrm>
          <a:prstGeom prst="line">
            <a:avLst/>
          </a:prstGeom>
          <a:noFill/>
          <a:ln w="12700">
            <a:solidFill>
              <a:srgbClr val="D8DC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" y="514807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muncul sebagai string kosong (""), bukan NULL/NaN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343400" y="1783080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F7F8FC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99432" y="2011680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9" name="Image 1" descr="/home/claude/pptx_proj/icons/refre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699" y="2088947"/>
            <a:ext cx="439826" cy="43982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49240" y="2011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Duplicate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4599432" y="27889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baris penuh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599432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baris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4599432" y="35387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berdasarkan Link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599432" y="38130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baris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4599432" y="42885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duplicate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599432" y="45628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baris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4599432" y="5056632"/>
            <a:ext cx="3145536" cy="0"/>
          </a:xfrm>
          <a:prstGeom prst="line">
            <a:avLst/>
          </a:prstGeom>
          <a:noFill/>
          <a:ln w="12700">
            <a:solidFill>
              <a:srgbClr val="D8DCE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599432" y="514807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 yang sama tercatat lebih dari sekali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8138160" y="1783080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F7F8FC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394192" y="20116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2" descr="/home/claude/pptx_proj/icons/to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459" y="2088947"/>
            <a:ext cx="439826" cy="43982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144000" y="2011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 Newline Tersembunyi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8394192" y="27889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Short_Description terdampak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8394192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 baris</a:t>
            </a:r>
            <a:endParaRPr lang="en-US" sz="1800" dirty="0"/>
          </a:p>
        </p:txBody>
      </p:sp>
      <p:sp>
        <p:nvSpPr>
          <p:cNvPr id="35" name="Text 30"/>
          <p:cNvSpPr/>
          <p:nvPr/>
        </p:nvSpPr>
        <p:spPr>
          <a:xfrm>
            <a:off x="8394192" y="35387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terdampak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8394192" y="38130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35.824 baris</a:t>
            </a:r>
            <a:endParaRPr lang="en-US" sz="1800" dirty="0"/>
          </a:p>
        </p:txBody>
      </p:sp>
      <p:sp>
        <p:nvSpPr>
          <p:cNvPr id="37" name="Text 32"/>
          <p:cNvSpPr/>
          <p:nvPr/>
        </p:nvSpPr>
        <p:spPr>
          <a:xfrm>
            <a:off x="8394192" y="42885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Ditemukan saat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8394192" y="45628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import Excel</a:t>
            </a:r>
            <a:endParaRPr lang="en-US" sz="1800" dirty="0"/>
          </a:p>
        </p:txBody>
      </p:sp>
      <p:sp>
        <p:nvSpPr>
          <p:cNvPr id="39" name="Shape 34"/>
          <p:cNvSpPr/>
          <p:nvPr/>
        </p:nvSpPr>
        <p:spPr>
          <a:xfrm>
            <a:off x="8394192" y="5056632"/>
            <a:ext cx="3145536" cy="0"/>
          </a:xfrm>
          <a:prstGeom prst="line">
            <a:avLst/>
          </a:prstGeom>
          <a:noFill/>
          <a:ln w="12700">
            <a:solidFill>
              <a:srgbClr val="D8DCEE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394192" y="514807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(\n) di tengah teks memecah baris saat dibuka di Excel/WPS</a:t>
            </a:r>
            <a:endParaRPr lang="en-US" sz="950" dirty="0"/>
          </a:p>
        </p:txBody>
      </p:sp>
      <p:sp>
        <p:nvSpPr>
          <p:cNvPr id="41" name="Text 3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— News Category Dataset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6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Langkah-Langkah Cleaning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dilakukan bertahap agar setiap perubahan terlacak dan dapat diverifikasi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" y="187452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57300" y="2377440"/>
            <a:ext cx="0" cy="548640"/>
          </a:xfrm>
          <a:prstGeom prst="line">
            <a:avLst/>
          </a:prstGeom>
          <a:noFill/>
          <a:ln w="19050">
            <a:solidFill>
              <a:srgbClr val="45509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828800" y="1801368"/>
            <a:ext cx="9326880" cy="868680"/>
          </a:xfrm>
          <a:prstGeom prst="roundRect">
            <a:avLst>
              <a:gd name="adj" fmla="val 7368"/>
            </a:avLst>
          </a:prstGeom>
          <a:solidFill>
            <a:srgbClr val="141B47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1801368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Missing Headline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1801368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baris tanpa judul dihapus — judul adalah identitas utama artikel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92608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57300" y="3429000"/>
            <a:ext cx="0" cy="548640"/>
          </a:xfrm>
          <a:prstGeom prst="line">
            <a:avLst/>
          </a:prstGeom>
          <a:noFill/>
          <a:ln w="19050">
            <a:solidFill>
              <a:srgbClr val="45509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828800" y="2852928"/>
            <a:ext cx="9326880" cy="868680"/>
          </a:xfrm>
          <a:prstGeom prst="roundRect">
            <a:avLst>
              <a:gd name="adj" fmla="val 7368"/>
            </a:avLst>
          </a:prstGeom>
          <a:solidFill>
            <a:srgbClr val="141B47"/>
          </a:solidFill>
          <a:ln/>
        </p:spPr>
      </p:sp>
      <p:sp>
        <p:nvSpPr>
          <p:cNvPr id="15" name="Text 13"/>
          <p:cNvSpPr/>
          <p:nvPr/>
        </p:nvSpPr>
        <p:spPr>
          <a:xfrm>
            <a:off x="2057400" y="2852928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Value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2852928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Short_Description &amp; Authors diisi placeholder ('Tidak ada deskripsi' / 'Unknown')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397764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57300" y="4480560"/>
            <a:ext cx="0" cy="548640"/>
          </a:xfrm>
          <a:prstGeom prst="line">
            <a:avLst/>
          </a:prstGeom>
          <a:noFill/>
          <a:ln w="19050">
            <a:solidFill>
              <a:srgbClr val="45509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828800" y="3904488"/>
            <a:ext cx="9326880" cy="868680"/>
          </a:xfrm>
          <a:prstGeom prst="roundRect">
            <a:avLst>
              <a:gd name="adj" fmla="val 7368"/>
            </a:avLst>
          </a:prstGeom>
          <a:solidFill>
            <a:srgbClr val="141B47"/>
          </a:solidFill>
          <a:ln/>
        </p:spPr>
      </p:sp>
      <p:sp>
        <p:nvSpPr>
          <p:cNvPr id="21" name="Text 19"/>
          <p:cNvSpPr/>
          <p:nvPr/>
        </p:nvSpPr>
        <p:spPr>
          <a:xfrm>
            <a:off x="2057400" y="3904488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3904488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baris duplikat (baris penuh + berdasarkan Link) dihapus, sisakan kemunculan pertama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05840" y="502920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828800" y="4956048"/>
            <a:ext cx="9326880" cy="868680"/>
          </a:xfrm>
          <a:prstGeom prst="roundRect">
            <a:avLst>
              <a:gd name="adj" fmla="val 7368"/>
            </a:avLst>
          </a:prstGeom>
          <a:solidFill>
            <a:srgbClr val="141B47"/>
          </a:solidFill>
          <a:ln/>
        </p:spPr>
      </p:sp>
      <p:sp>
        <p:nvSpPr>
          <p:cNvPr id="26" name="Text 24"/>
          <p:cNvSpPr/>
          <p:nvPr/>
        </p:nvSpPr>
        <p:spPr>
          <a:xfrm>
            <a:off x="2057400" y="4956048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Hidden Newline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4956048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 enter (\n) di dalam teks diganti spasi agar CSV terbaca benar di Excel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— News Category Dataset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Perubahan yang Dilakukan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 tipe data, format, penulisan, dan penamaan kolom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83664"/>
            <a:ext cx="54864" cy="68580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Data &amp; Tanggal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3969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(string) → Date (datetime), format ISO 8601 YYYY-MM-DD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798064"/>
            <a:ext cx="54864" cy="68580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Penulisan Huruf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05409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diseragamkan UPPERCASE; koma pemisah nama Authors dirapikan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712464"/>
            <a:ext cx="54864" cy="68580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Spasi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96849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Spasi awal/akhir &amp; spasi ganda dibersihkan di seluruh kolom teks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626864"/>
            <a:ext cx="54864" cy="68580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572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Kolom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88289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nama kolom diseragamkan ke format Title_Case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178308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7F8FC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Penamaan Kolom Konsisten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2423160"/>
            <a:ext cx="2331720" cy="365760"/>
          </a:xfrm>
          <a:prstGeom prst="roundRect">
            <a:avLst>
              <a:gd name="adj" fmla="val 10000"/>
            </a:avLst>
          </a:prstGeom>
          <a:solidFill>
            <a:srgbClr val="DADFF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423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Lama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06840" y="2423160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00684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Baru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0" y="2834640"/>
            <a:ext cx="23317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006840" y="2834640"/>
            <a:ext cx="23774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28346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098280" y="28346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3236976"/>
            <a:ext cx="2331720" cy="384048"/>
          </a:xfrm>
          <a:prstGeom prst="rect">
            <a:avLst/>
          </a:prstGeom>
          <a:solidFill>
            <a:srgbClr val="EFF1F9"/>
          </a:solidFill>
          <a:ln/>
        </p:spPr>
      </p:sp>
      <p:sp>
        <p:nvSpPr>
          <p:cNvPr id="28" name="Shape 26"/>
          <p:cNvSpPr/>
          <p:nvPr/>
        </p:nvSpPr>
        <p:spPr>
          <a:xfrm>
            <a:off x="9006840" y="3236976"/>
            <a:ext cx="2377440" cy="384048"/>
          </a:xfrm>
          <a:prstGeom prst="rect">
            <a:avLst/>
          </a:prstGeom>
          <a:solidFill>
            <a:srgbClr val="EFF1F9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32369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headline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098280" y="32369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Headline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83680" y="3639312"/>
            <a:ext cx="23317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9006840" y="3639312"/>
            <a:ext cx="23774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0" y="363931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098280" y="363931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83680" y="4041648"/>
            <a:ext cx="2331720" cy="384048"/>
          </a:xfrm>
          <a:prstGeom prst="rect">
            <a:avLst/>
          </a:prstGeom>
          <a:solidFill>
            <a:srgbClr val="EFF1F9"/>
          </a:solidFill>
          <a:ln/>
        </p:spPr>
      </p:sp>
      <p:sp>
        <p:nvSpPr>
          <p:cNvPr id="36" name="Shape 34"/>
          <p:cNvSpPr/>
          <p:nvPr/>
        </p:nvSpPr>
        <p:spPr>
          <a:xfrm>
            <a:off x="9006840" y="4041648"/>
            <a:ext cx="2377440" cy="384048"/>
          </a:xfrm>
          <a:prstGeom prst="rect">
            <a:avLst/>
          </a:prstGeom>
          <a:solidFill>
            <a:srgbClr val="EFF1F9"/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0" y="404164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short_description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098280" y="404164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Short_Description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83680" y="4443984"/>
            <a:ext cx="23317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9006840" y="4443984"/>
            <a:ext cx="23774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444398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098280" y="444398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583680" y="4846320"/>
            <a:ext cx="2331720" cy="384048"/>
          </a:xfrm>
          <a:prstGeom prst="rect">
            <a:avLst/>
          </a:prstGeom>
          <a:solidFill>
            <a:srgbClr val="EFF1F9"/>
          </a:solidFill>
          <a:ln/>
        </p:spPr>
      </p:sp>
      <p:sp>
        <p:nvSpPr>
          <p:cNvPr id="44" name="Shape 42"/>
          <p:cNvSpPr/>
          <p:nvPr/>
        </p:nvSpPr>
        <p:spPr>
          <a:xfrm>
            <a:off x="9006840" y="4846320"/>
            <a:ext cx="2377440" cy="384048"/>
          </a:xfrm>
          <a:prstGeom prst="rect">
            <a:avLst/>
          </a:prstGeom>
          <a:solidFill>
            <a:srgbClr val="EFF1F9"/>
          </a:solidFill>
          <a:ln/>
        </p:spPr>
      </p:sp>
      <p:sp>
        <p:nvSpPr>
          <p:cNvPr id="45" name="Text 43"/>
          <p:cNvSpPr/>
          <p:nvPr/>
        </p:nvSpPr>
        <p:spPr>
          <a:xfrm>
            <a:off x="6675120" y="48463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098280" y="48463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— News Category Dataset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kolom baru dibuat untuk memperkaya dataset (melebihi target minimal 2 kolom)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116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49631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Year(Date)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3063240"/>
            <a:ext cx="3246120" cy="0"/>
          </a:xfrm>
          <a:prstGeom prst="line">
            <a:avLst/>
          </a:prstGeom>
          <a:noFill/>
          <a:ln w="9525">
            <a:solidFill>
              <a:srgbClr val="3E4A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13639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jumlah berita per tahun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70248" y="17830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498848" y="20116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2A541"/>
          </a:solidFill>
          <a:ln/>
        </p:spPr>
      </p:sp>
      <p:sp>
        <p:nvSpPr>
          <p:cNvPr id="13" name="Text 11"/>
          <p:cNvSpPr/>
          <p:nvPr/>
        </p:nvSpPr>
        <p:spPr>
          <a:xfrm>
            <a:off x="4498848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98848" y="249631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Month(Date)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98848" y="3063240"/>
            <a:ext cx="3246120" cy="0"/>
          </a:xfrm>
          <a:prstGeom prst="line">
            <a:avLst/>
          </a:prstGeom>
          <a:noFill/>
          <a:ln w="9525">
            <a:solidFill>
              <a:srgbClr val="3E4A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313639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musiman kategori berita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91856" y="17830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0456" y="20116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2A541"/>
          </a:solidFill>
          <a:ln/>
        </p:spPr>
      </p:sp>
      <p:sp>
        <p:nvSpPr>
          <p:cNvPr id="19" name="Text 17"/>
          <p:cNvSpPr/>
          <p:nvPr/>
        </p:nvSpPr>
        <p:spPr>
          <a:xfrm>
            <a:off x="8220456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Day_Of_Week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0456" y="249631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hari dari Date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0456" y="3063240"/>
            <a:ext cx="3246120" cy="0"/>
          </a:xfrm>
          <a:prstGeom prst="line">
            <a:avLst/>
          </a:prstGeom>
          <a:noFill/>
          <a:ln w="9525">
            <a:solidFill>
              <a:srgbClr val="3E4A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0456" y="313639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publikasi weekday vs weekend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411480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2A54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Headline_Word_Count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459943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kata pada Headline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5166360"/>
            <a:ext cx="3246120" cy="0"/>
          </a:xfrm>
          <a:prstGeom prst="line">
            <a:avLst/>
          </a:prstGeom>
          <a:noFill/>
          <a:ln w="9525">
            <a:solidFill>
              <a:srgbClr val="3E4A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23951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 penulisan judul per kategori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70248" y="388620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30" name="Shape 28"/>
          <p:cNvSpPr/>
          <p:nvPr/>
        </p:nvSpPr>
        <p:spPr>
          <a:xfrm>
            <a:off x="4498848" y="411480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2A541"/>
          </a:solidFill>
          <a:ln/>
        </p:spPr>
      </p:sp>
      <p:sp>
        <p:nvSpPr>
          <p:cNvPr id="31" name="Text 29"/>
          <p:cNvSpPr/>
          <p:nvPr/>
        </p:nvSpPr>
        <p:spPr>
          <a:xfrm>
            <a:off x="4498848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Num_Authors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98848" y="459943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koma pada Authors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98848" y="5166360"/>
            <a:ext cx="3246120" cy="0"/>
          </a:xfrm>
          <a:prstGeom prst="line">
            <a:avLst/>
          </a:prstGeom>
          <a:noFill/>
          <a:ln w="9525">
            <a:solidFill>
              <a:srgbClr val="3E4A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98848" y="523951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 kolaboratif vs individu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91856" y="388620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36" name="Shape 34"/>
          <p:cNvSpPr/>
          <p:nvPr/>
        </p:nvSpPr>
        <p:spPr>
          <a:xfrm>
            <a:off x="8220456" y="411480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2A541"/>
          </a:solidFill>
          <a:ln/>
        </p:spPr>
      </p:sp>
      <p:sp>
        <p:nvSpPr>
          <p:cNvPr id="37" name="Text 35"/>
          <p:cNvSpPr/>
          <p:nvPr/>
        </p:nvSpPr>
        <p:spPr>
          <a:xfrm>
            <a:off x="8220456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Author_Type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0456" y="459943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/ Multiple / Unknown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20456" y="5166360"/>
            <a:ext cx="3246120" cy="0"/>
          </a:xfrm>
          <a:prstGeom prst="line">
            <a:avLst/>
          </a:prstGeom>
          <a:noFill/>
          <a:ln w="9525">
            <a:solidFill>
              <a:srgbClr val="3E4A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0456" y="523951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jumlah penulis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— News Category Dataset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Final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Perjalanan data dari mentah hingga siap dianalisis tim Data Analyst Senior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F0F1F8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1168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2377440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209.527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13232" y="2971800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kolom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71800" y="2606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91840" y="187452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DCE3F7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201168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v1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56432" y="2377440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209.480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56432" y="2971800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&amp; duplicate ditangani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715000" y="2606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035040" y="187452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B9C8ED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201168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v2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9632" y="2377440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209.480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99632" y="2971800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penamaan distandarisasi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458200" y="2606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778240" y="187452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942832" y="201168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42832" y="2377440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209.480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942832" y="2971800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kolom (+6 fitur baru)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389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22960" y="5029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dihapus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(0,02% dari data awal)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520440" y="4389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→ 12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520440" y="5029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kolom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(+6 fitur baru)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0" y="4389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217920" y="5029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&amp; duplicate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terselesaikan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915400" y="4389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8915400" y="5029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dokumentasi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dihasilkan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— News Category Dataset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Awal Setelah Cleaning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cepat pola dalam data, berbasis dataset yang sudah bersih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Kategori Berita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48840"/>
          <a:ext cx="57607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92240" y="1828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Jumlah Penulis</a:t>
            </a:r>
            <a:endParaRPr lang="en-US" sz="12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492240" y="2148840"/>
          <a:ext cx="27432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6492240" y="4846320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6"/>
          <p:cNvSpPr/>
          <p:nvPr/>
        </p:nvSpPr>
        <p:spPr>
          <a:xfrm>
            <a:off x="6720840" y="472744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POLITICS mendominasi (35.587 artikel, ~17% dari total) — jauh di atas kategori lain.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492240" y="5413248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8"/>
          <p:cNvSpPr/>
          <p:nvPr/>
        </p:nvSpPr>
        <p:spPr>
          <a:xfrm>
            <a:off x="6720840" y="529437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42,9% artikel ditulis 1 penulis; 17,8% penulisnya tidak diketahui — perlu ditelusuri lebih lanjut.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92240" y="5980176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0"/>
          <p:cNvSpPr/>
          <p:nvPr/>
        </p:nvSpPr>
        <p:spPr>
          <a:xfrm>
            <a:off x="6720840" y="586130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berita menurun tajam sejak 2018 (32rb → ~1.4rb di 2022) — indikasi perubahan sumber data.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— News Category Dataset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 &amp; Output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siap diserahkan ke tim Data Analyst Senior untuk tahap analisis lanjutan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6" name="Image 0" descr="/home/claude/pptx_proj/icons/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203134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3852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final_clean_dataset.csv / .xlsx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22402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209.480 baris × 12 kolom — bersih, terstandarisasi, siap analisis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2862072"/>
            <a:ext cx="502920" cy="50292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0" name="Image 1" descr="/home/claude/pptx_proj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60" y="2927452"/>
            <a:ext cx="372161" cy="3721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8346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Data_Cleaning_Log.docx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371600" y="31363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missing value &amp; duplicate handling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0080" y="3758184"/>
            <a:ext cx="502920" cy="50292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4" name="Image 2" descr="/home/claude/pptx_proj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3823564"/>
            <a:ext cx="372161" cy="37216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7307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Data_Standardization_Report.docx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371600" y="403250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standardisasi tipe data &amp; format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40080" y="4654296"/>
            <a:ext cx="502920" cy="50292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8" name="Image 3" descr="/home/claude/pptx_proj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4719676"/>
            <a:ext cx="372161" cy="37216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462686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Feature_Engineering_Documentation.docx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371600" y="4928616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6 fitur baru &amp; alasan relevansinya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40080" y="5760720"/>
            <a:ext cx="10881360" cy="0"/>
          </a:xfrm>
          <a:prstGeom prst="line">
            <a:avLst/>
          </a:prstGeom>
          <a:noFill/>
          <a:ln w="12700">
            <a:solidFill>
              <a:srgbClr val="3E4A93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40080" y="5943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2026-07-31T01:59:45Z</dcterms:created>
  <dcterms:modified xsi:type="dcterms:W3CDTF">2026-07-31T01:59:45Z</dcterms:modified>
</cp:coreProperties>
</file>