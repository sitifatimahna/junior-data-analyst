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— DATA STORYTELLING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Penurunan Penjualan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Kasus: Superstore Sales Dataset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2011680" cy="0"/>
          </a:xfrm>
          <a:prstGeom prst="line">
            <a:avLst/>
          </a:prstGeom>
          <a:noFill/>
          <a:ln w="381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Topik 6 — Reporting &amp; Data Storytelling | Minggu ke-10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Dipresentasikan oleh: Junior Data Analyst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Edusoft Center Teknologi — Simulasi Industri Junior Data Analyst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Eksekutif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2222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103120"/>
            <a:ext cx="10149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Penjualan turun </a:t>
            </a:r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33,2%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secara konsisten selama 3 bulan (Mar–Jun 2011). Analisis menemukan penurunan bersifat </a:t>
            </a:r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95,2% berasal dari 4 dari 8 wilayah (Quebec, Ontario, Yukon, Nunavut) — didorong oleh turunnya </a:t>
            </a:r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transaksi (AOV -11,3%)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bukan hilangnya pelanggan (-2,7%) atau strategi diskon internal (margin justru membaik). Tiga rekomendasi prioritas diajukan: investigasi kompetitor regional, kampanye promosi berbasis AOV, dan program retensi pelanggan bernilai tinggi.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Terjadi?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023360" cy="420624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860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-33,2%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Penurunan Total Penjualan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31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Maret → Juni 2011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bulan berturut-turut)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4754880"/>
            <a:ext cx="2926080" cy="0"/>
          </a:xfrm>
          <a:prstGeom prst="line">
            <a:avLst/>
          </a:prstGeom>
          <a:noFill/>
          <a:ln w="12700">
            <a:solidFill>
              <a:srgbClr val="3A4B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37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$296.036 → $197.741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01168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Penjualan mengalami penurunan signifikan dan konsisten selama tiga bulan berturut-turut pada periode Maret–Juni 2011.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0" y="3200400"/>
            <a:ext cx="6492240" cy="1463040"/>
          </a:xfrm>
          <a:prstGeom prst="roundRect">
            <a:avLst>
              <a:gd name="adj" fmla="val 6250"/>
            </a:avLst>
          </a:prstGeom>
          <a:solidFill>
            <a:srgbClr val="F7F9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03520" y="33832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Penurunan bersifat SISTEMIK, bukan fluktuasi acak — menunjukkan adanya faktor mendasar yang memengaruhi performa penjualan secara berkelanjutan.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Ingin Diketahui?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83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apa yang paling berkontribusi terhadap penurunan penjualan selama Maret–Juni 2011?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6334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58775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 dan kategori produk mana yang paling besar berkontribusi terhadap penurunan?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4381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39242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penurunan disebabkan oleh berkurangnya pelanggan, atau menurunnya nilai transaksi (AOV)?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2428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19709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diskon yang diberikan memengaruhi penurunan atau menekan profit margin?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0474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0017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Sub-kategori produk apa yang menjadi kontributor utama penurunan?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Sumber Data &amp; Metodologi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Dataset — 8.399 baris transaksi retail riil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Nov 2010–Feb 2011  |  Periode Analisis: Mar–Jun 2011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Teknik Analisis yang Digunakan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2066544" cy="201168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/>
        </p:spPr>
      </p:sp>
      <p:sp>
        <p:nvSpPr>
          <p:cNvPr id="9" name="Shape 7"/>
          <p:cNvSpPr/>
          <p:nvPr/>
        </p:nvSpPr>
        <p:spPr>
          <a:xfrm>
            <a:off x="1421892" y="379476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21892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48056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98348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penjualan bulanan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43784" y="3566160"/>
            <a:ext cx="2066544" cy="201168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/>
        </p:spPr>
      </p:sp>
      <p:sp>
        <p:nvSpPr>
          <p:cNvPr id="14" name="Shape 12"/>
          <p:cNvSpPr/>
          <p:nvPr/>
        </p:nvSpPr>
        <p:spPr>
          <a:xfrm>
            <a:off x="3625596" y="379476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25596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6" name="Text 14"/>
          <p:cNvSpPr txBox="1"/>
          <p:nvPr/>
        </p:nvSpPr>
        <p:spPr>
          <a:xfrm>
            <a:off x="2935224" y="448056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Analysis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935224" y="498348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wilayah (Pareto)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47488" y="3566160"/>
            <a:ext cx="2066544" cy="201168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/>
        </p:spPr>
      </p:sp>
      <p:sp>
        <p:nvSpPr>
          <p:cNvPr id="19" name="Shape 17"/>
          <p:cNvSpPr/>
          <p:nvPr/>
        </p:nvSpPr>
        <p:spPr>
          <a:xfrm>
            <a:off x="5829300" y="379476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293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21" name="Text 19"/>
          <p:cNvSpPr txBox="1"/>
          <p:nvPr/>
        </p:nvSpPr>
        <p:spPr>
          <a:xfrm>
            <a:off x="5138928" y="448056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Analysis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138928" y="498348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Pemecahan per kategori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51192" y="3566160"/>
            <a:ext cx="2066544" cy="201168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/>
        </p:spPr>
      </p:sp>
      <p:sp>
        <p:nvSpPr>
          <p:cNvPr id="24" name="Shape 22"/>
          <p:cNvSpPr/>
          <p:nvPr/>
        </p:nvSpPr>
        <p:spPr>
          <a:xfrm>
            <a:off x="8033004" y="379476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33004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6" name="Text 24"/>
          <p:cNvSpPr txBox="1"/>
          <p:nvPr/>
        </p:nvSpPr>
        <p:spPr>
          <a:xfrm>
            <a:off x="7342632" y="448056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Analysis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342632" y="498348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 turun vs tumbuh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54896" y="3566160"/>
            <a:ext cx="2066544" cy="201168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36708" y="379476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236708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10" dirty="0"/>
          </a:p>
        </p:txBody>
      </p:sp>
      <p:sp>
        <p:nvSpPr>
          <p:cNvPr id="31" name="Text 29"/>
          <p:cNvSpPr txBox="1"/>
          <p:nvPr/>
        </p:nvSpPr>
        <p:spPr>
          <a:xfrm>
            <a:off x="9546336" y="448056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Down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546336" y="498348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Wilayah×Kategori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Penurunan Terkonsentrasi di 4 Wilayah</a:t>
            </a:r>
            <a:endParaRPr lang="en-US" sz="2800" dirty="0"/>
          </a:p>
        </p:txBody>
      </p:sp>
      <p:pic>
        <p:nvPicPr>
          <p:cNvPr id="4" name="Image 0" descr="/home/claude/work6/chart2_pa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640080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783080"/>
            <a:ext cx="4206240" cy="3474720"/>
          </a:xfrm>
          <a:prstGeom prst="roundRect">
            <a:avLst>
              <a:gd name="adj" fmla="val 2632"/>
            </a:avLst>
          </a:prstGeom>
          <a:solidFill>
            <a:srgbClr val="F7F9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589520" y="20116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3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95,2%
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total penurunan berasal dari hanya 4 dari 8 wilayah operasi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3749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 lain (Prarie, West, NW Territories) justru BERTUMBUH pada periode yang sama.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54406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54406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Upaya perbaikan akan jauh lebih efisien jika difokuskan pada 4 wilayah ini, dibanding kampanye nasional.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Semua Kategori Turun Bersamaan</a:t>
            </a:r>
            <a:endParaRPr lang="en-US" sz="2800" dirty="0"/>
          </a:p>
        </p:txBody>
      </p:sp>
      <p:pic>
        <p:nvPicPr>
          <p:cNvPr id="4" name="Image 0" descr="/home/claude/work6/chart3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645920"/>
            <a:ext cx="7315200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5778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55778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Penyebab bersifat kewilayahan (bukan produk) — strategi berbasis kategori produk saja tidak akan cukup.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AOV Turun Jauh Lebih Besar dari Pelanggan</a:t>
            </a:r>
            <a:endParaRPr lang="en-US" sz="2800" dirty="0"/>
          </a:p>
        </p:txBody>
      </p:sp>
      <p:pic>
        <p:nvPicPr>
          <p:cNvPr id="4" name="Image 0" descr="/home/claude/work6/chart4_kpi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737360"/>
            <a:ext cx="804672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5778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55778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Strategi retensi pelanggan generik tidak akan efektif — fokus harus pada mendorong nilai transaksi.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Ini Terjadi?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2103120"/>
          </a:xfrm>
          <a:prstGeom prst="roundRect">
            <a:avLst>
              <a:gd name="adj" fmla="val 4348"/>
            </a:avLst>
          </a:prstGeom>
          <a:solidFill>
            <a:srgbClr val="26387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10149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Penurunan penjualan </a:t>
            </a:r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luas di 4 wilayah (Quebec, Ontario, Yukon, Nunavut), didorong terutama oleh turunnya </a:t>
            </a:r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(-11,3%)</a:t>
            </a:r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BUKAN oleh hilangnya pelanggan (-2,7%) maupun strategi diskon/pricing internal.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62053"/>
          </a:solidFill>
          <a:ln w="12700">
            <a:solidFill>
              <a:srgbClr val="3A4B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2062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masalah produk tertentu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42062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62053"/>
          </a:solidFill>
          <a:ln w="12700">
            <a:solidFill>
              <a:srgbClr val="3A4B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42062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kehilangan pelanggan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42062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62053"/>
          </a:solidFill>
          <a:ln w="12700">
            <a:solidFill>
              <a:srgbClr val="3A4B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42062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strategi diskon internal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349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Penyebab pasti bersifat eksternal (kompetitor/kondisi pasar lokal) dan memerlukan data tambahan untuk konfirmasi.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Dampaknya Jika Dibiarkan?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7F9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109728" cy="18745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9339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Finansial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2316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revenue $41.375/bulan berpotensi melebar jika tren penurunan berlanjut tanpa intervensi.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7F9FC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828800"/>
            <a:ext cx="109728" cy="18745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99339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42316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sumber daya sales/marketing saat ini belum proporsional terhadap 4 wilayah yang paling terdampak.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7F9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977640"/>
            <a:ext cx="109728" cy="18745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1422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57200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kehilangan pangsa pasar permanen di 4 wilayah jika kompetitor/faktor eksternal tidak segera diidentifikasi.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7F9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3977640"/>
            <a:ext cx="109728" cy="18745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0" y="41422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Reputasi Internal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57200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negatif 3 bulan berturut-turut dapat memengaruhi kepercayaan manajemen jika tidak ada langkah konkret.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Harus Dilakukan?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03911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Investigasi Kompetitor &amp; Pasar Regional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49631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Dijalankan lebih dulu — cepat &amp; murah, jadi dasar keputusan untuk 4 wilayah prioritas.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794760"/>
            <a:ext cx="640080" cy="6400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5935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Kampanye Promosi Tertarget Berbasis AOV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405079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Cross-sell/bundling (bukan diskon flat) di 4 wilayah, fokus menaikkan nilai transaksi.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9834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5349240"/>
            <a:ext cx="640080" cy="6400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514807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Retensi/Win-Back Pelanggan High-AOV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560527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Mendekati pelanggan eksisting bernilai tinggi yang sudah ada di 4 wilayah tsb.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Hasil yang Diharapkan?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$41.375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004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Potensi pemulihan revenue/bulan jika AOV kembali ke level baseline ($2.677), tanpa menambah pelanggan baru maupun menurunkan margin.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7F9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21945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Lebih Tepat Sasaran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33375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alokasi anggaran berbasis bukti data, mengurangi risiko pemborosan pada solusi yang salah arah.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7F9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21945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Biaya Lebih Rendah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33375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Retensi pelanggan bernilai tinggi eksisting jauh lebih murah dibanding akuisisi pelanggan baru dari nol.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4114800" cy="41148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Masalah Regional Butuh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Solusi Regional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Penurunan penjualan 33,2% bukan disebabkan oleh satu produk atau strategi harga, melainkan oleh </a:t>
            </a:r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konsentrasi masalah di 4 wilayah tertentu</a:t>
            </a:r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didorong oleh turunnya nilai transaksi pelanggan yang sudah ada.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2011680" cy="0"/>
          </a:xfrm>
          <a:prstGeom prst="line">
            <a:avLst/>
          </a:prstGeom>
          <a:noFill/>
          <a:ln w="381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434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Prioritas: Investigasi → Promosi Tertarget AOV → Retensi Pelanggan High-Value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FB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 — Sesi Q&amp;A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2026-09-04T06:46:01Z</dcterms:created>
  <dcterms:modified xsi:type="dcterms:W3CDTF">2026-09-04T06:46:01Z</dcterms:modified>
</cp:coreProperties>
</file>